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gital" id="{E7BF6CFD-DC1C-4B2F-B380-904B52742D4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4A0"/>
    <a:srgbClr val="062D8C"/>
    <a:srgbClr val="081074"/>
    <a:srgbClr val="FCC819"/>
    <a:srgbClr val="F9B40D"/>
    <a:srgbClr val="FFD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D1653-5576-469B-9B33-F3453F4C88ED}" v="1" dt="2026-02-09T17:52:21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 showGuides="1">
      <p:cViewPr>
        <p:scale>
          <a:sx n="120" d="100"/>
          <a:sy n="120" d="100"/>
        </p:scale>
        <p:origin x="139" y="-917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203" y="0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C8D68F0-419C-455A-9FBC-29D6EA7CAB30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075" y="4924989"/>
            <a:ext cx="5683914" cy="4029684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2309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203" y="9722309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84FAA97-C030-428C-B352-73BDE73815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05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14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49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76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66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23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69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67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08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91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139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05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AA1B3-8CAB-4A7A-9664-8DFB99A4C6C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44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E0F5818-5B51-BC3C-1468-CB87432E2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90599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965AF75-2C0E-5DEA-92EB-6B758D791180}"/>
              </a:ext>
            </a:extLst>
          </p:cNvPr>
          <p:cNvSpPr txBox="1"/>
          <p:nvPr/>
        </p:nvSpPr>
        <p:spPr>
          <a:xfrm>
            <a:off x="515471" y="2089207"/>
            <a:ext cx="8875058" cy="30157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A Edeconsil certifica que</a:t>
            </a: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	</a:t>
            </a:r>
          </a:p>
          <a:p>
            <a:pPr algn="ctr">
              <a:buNone/>
            </a:pPr>
            <a:r>
              <a:rPr lang="pt-BR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CARLOS AUGUSTO PEREIRA LIMA JUNIOR</a:t>
            </a:r>
            <a:endParaRPr lang="pt-BR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pt-BR" sz="1200" b="1" dirty="0">
              <a:latin typeface="Montserrat" pitchFamily="2" charset="-18"/>
            </a:endParaRP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Concluiu com êxito o treinamento da Norma Regulamentadora </a:t>
            </a:r>
            <a:r>
              <a:rPr lang="pt-BR" sz="1200" b="1" dirty="0">
                <a:latin typeface="Montserrat" pitchFamily="2" charset="-18"/>
              </a:rPr>
              <a:t>capacitação básica em segurança do trabalho</a:t>
            </a:r>
            <a:r>
              <a:rPr lang="pt-BR" sz="1200" dirty="0">
                <a:latin typeface="Montserrat" pitchFamily="2" charset="-18"/>
              </a:rPr>
              <a:t>, com carga horária de 4 horas com validade de </a:t>
            </a:r>
            <a:r>
              <a:rPr lang="pt-BR" sz="1200">
                <a:latin typeface="Montserrat" pitchFamily="2" charset="-18"/>
              </a:rPr>
              <a:t>2 anos, com </a:t>
            </a:r>
            <a:r>
              <a:rPr lang="pt-BR" sz="1200" dirty="0">
                <a:latin typeface="Montserrat" pitchFamily="2" charset="-18"/>
              </a:rPr>
              <a:t>o total de 8 horas de treinamento. realizado em  13 de Agosto de 2026, demonstrando comprometimento e excelência.</a:t>
            </a:r>
          </a:p>
          <a:p>
            <a:pPr algn="ctr">
              <a:lnSpc>
                <a:spcPct val="150000"/>
              </a:lnSpc>
            </a:pPr>
            <a:endParaRPr lang="pt-BR" sz="1200" dirty="0">
              <a:latin typeface="Montserrat" pitchFamily="2" charset="-18"/>
            </a:endParaRPr>
          </a:p>
          <a:p>
            <a:pPr algn="just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Este certificado é concedido como reconhecimento pelo desempenho e dedicação apresentados.</a:t>
            </a: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							</a:t>
            </a: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São </a:t>
            </a:r>
            <a:r>
              <a:rPr lang="pt-BR" sz="1200" dirty="0" err="1">
                <a:latin typeface="Montserrat" pitchFamily="2" charset="-18"/>
              </a:rPr>
              <a:t>Luís-MA</a:t>
            </a:r>
            <a:r>
              <a:rPr lang="pt-BR" sz="1200" dirty="0">
                <a:latin typeface="Montserrat" pitchFamily="2" charset="-18"/>
              </a:rPr>
              <a:t>, 13 de Agosto de 2026.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621090-F92D-4016-D67D-628D80DBA7BF}"/>
              </a:ext>
            </a:extLst>
          </p:cNvPr>
          <p:cNvSpPr txBox="1"/>
          <p:nvPr/>
        </p:nvSpPr>
        <p:spPr>
          <a:xfrm>
            <a:off x="1985963" y="6272288"/>
            <a:ext cx="2486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800" dirty="0">
                <a:latin typeface="Montserrat" pitchFamily="2" charset="-18"/>
              </a:rPr>
              <a:t>funcionário</a:t>
            </a:r>
          </a:p>
          <a:p>
            <a:pPr algn="ctr"/>
            <a:endParaRPr lang="pt-BR" sz="800" dirty="0">
              <a:latin typeface="Montserrat" pitchFamily="2" charset="-18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765913-D5C4-1725-E949-86658DC65968}"/>
              </a:ext>
            </a:extLst>
          </p:cNvPr>
          <p:cNvSpPr txBox="1"/>
          <p:nvPr/>
        </p:nvSpPr>
        <p:spPr>
          <a:xfrm>
            <a:off x="5434012" y="6272288"/>
            <a:ext cx="24860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800" dirty="0">
                <a:latin typeface="Montserrat" pitchFamily="2" charset="-18"/>
              </a:rPr>
              <a:t>Instrutor</a:t>
            </a:r>
          </a:p>
          <a:p>
            <a:pPr algn="ctr"/>
            <a:endParaRPr lang="pt-BR" sz="800" dirty="0">
              <a:latin typeface="Montserrat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63065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">
            <a:extLst>
              <a:ext uri="{FF2B5EF4-FFF2-40B4-BE49-F238E27FC236}">
                <a16:creationId xmlns:a16="http://schemas.microsoft.com/office/drawing/2014/main" id="{3EC9D533-4BE0-E515-4C6D-944D8025D9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C49D030-1CE5-80BE-FC13-AA17E5125085}"/>
              </a:ext>
            </a:extLst>
          </p:cNvPr>
          <p:cNvSpPr txBox="1"/>
          <p:nvPr/>
        </p:nvSpPr>
        <p:spPr>
          <a:xfrm>
            <a:off x="369735" y="576908"/>
            <a:ext cx="87670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1B54DA"/>
                </a:solidFill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rPr>
              <a:t>CONTEÚDO PROGRAMÁTICO:</a:t>
            </a:r>
          </a:p>
          <a:p>
            <a:endParaRPr lang="pt-BR" sz="2000" dirty="0">
              <a:solidFill>
                <a:srgbClr val="1B54DA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139144-DFDF-C96D-7736-6AAED456E111}"/>
              </a:ext>
            </a:extLst>
          </p:cNvPr>
          <p:cNvSpPr txBox="1"/>
          <p:nvPr/>
        </p:nvSpPr>
        <p:spPr>
          <a:xfrm>
            <a:off x="142164" y="930851"/>
            <a:ext cx="9621672" cy="53124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>
                <a:latin typeface="Montserrat" pitchFamily="2" charset="-18"/>
              </a:defRPr>
            </a:lvl1pPr>
          </a:lstStyle>
          <a:p>
            <a:pPr algn="just"/>
            <a:r>
              <a:rPr lang="pt-BR" sz="1050" b="1" dirty="0"/>
              <a:t>CAPACITAÇÃO BÁSICA EM SEGURANÇA DO TRABALHO, SEGURANÇA, SAÚDE E MEIO AMBIENTE – NR 18:</a:t>
            </a:r>
          </a:p>
          <a:p>
            <a:pPr algn="just"/>
            <a:r>
              <a:rPr lang="pt-BR" sz="1050" dirty="0"/>
              <a:t>I. as condições e meio ambiente de trabalho; II. os riscos inerentes às atividades desenvolvidas; III. os equipamentos e proteção coletiva existentes no canteiro de obras; IV. o uso adequado dos equipamentos de proteção individual; V. o PGR do canteiro de obras.</a:t>
            </a:r>
          </a:p>
          <a:p>
            <a:pPr algn="just"/>
            <a:r>
              <a:rPr lang="pt-BR" sz="1050" dirty="0"/>
              <a:t>Uniformes, Equipamentos de Proteção Individual – EPI (Uso, guarda e higienização), Equipamentos de Proteção Coletiva – EPC (Uso, guarda e higienização), proibições, descrições dos riscos da atividade conforme o cargo, medidas de controle, Análise Preliminar de Risco - APR, Programa de Controle Médico de Saúde Ocupacional - PCMSO, Programa de Proteção Respiratória - PPR, Programa de Conservação Auditiva - PCA, Programa de Gerenciamento de Risco - PGR,  Plano de controle Ambiental - PCA, Programa de Gerenciamento de Resíduos Sólidos – PGRS.</a:t>
            </a:r>
          </a:p>
          <a:p>
            <a:pPr algn="just"/>
            <a:r>
              <a:rPr lang="pt-BR" sz="1050" b="1" dirty="0"/>
              <a:t>PAE - PLANO DE AÇÃO EMERGENCIAL:</a:t>
            </a:r>
            <a:r>
              <a:rPr lang="pt-BR" sz="1050" dirty="0"/>
              <a:t> Introdução, objetivo, aplicação, referências, definições, área de abrangência, caracterização do empreendimento, discrição das situações e procedimentos de emergência, estrutura organizacional de resposta à emergência, fluxograma de acionamento, recursos. Noções de Primeiros Socorros, Noções de combate a Incêndio.</a:t>
            </a:r>
          </a:p>
          <a:p>
            <a:pPr algn="just"/>
            <a:r>
              <a:rPr lang="pt-BR" sz="1050" b="1" dirty="0"/>
              <a:t>NR 01 – ORDEM DE SERVIÇO: </a:t>
            </a:r>
            <a:r>
              <a:rPr lang="pt-BR" sz="1050" dirty="0"/>
              <a:t>Atividades de Riscos; os riscos profissionais que possam originar-se nos locais de trabalho; os meios para prevenir e limitar tais riscos e as medidas adotadas pela empresa -EPI e EPC; os resultados das avaliações ambientais realizadas nos locais de trabalho. </a:t>
            </a:r>
            <a:r>
              <a:rPr lang="pt-BR" sz="1050" b="1" dirty="0"/>
              <a:t>PROGRAMA DE GERENCIAMENTO DE RISCOS (PGR): </a:t>
            </a:r>
            <a:r>
              <a:rPr lang="pt-BR" sz="1050" dirty="0"/>
              <a:t>Postos de Trabalho Descrição dos Ambientes de Trabalho Tipo de Atividade Tarefas a ser executada Grupos Homogêneos de Exposição Caracterização da Exposição a) antecipação e reconhecimentos dos riscos; b) estabelecimento de prioridades e metas de avaliação. </a:t>
            </a:r>
          </a:p>
          <a:p>
            <a:pPr algn="just"/>
            <a:r>
              <a:rPr lang="pt-BR" sz="1050" b="1" dirty="0"/>
              <a:t>NR 06 - EQUIPAMENTO DE PROTEÇÃO INDIVIDUAL: </a:t>
            </a:r>
            <a:r>
              <a:rPr lang="pt-BR" sz="1050" dirty="0"/>
              <a:t>Definição de EPI Responsabilidade quanto ao fornecimento, e uso do EPI Tipos de EPI Aplicação do uso de acordo com a atividade e exposição Uso adequado, guarda e conservação, troca periódica e descarte. Procedimento de requisição e registro de fornecimento.</a:t>
            </a:r>
          </a:p>
          <a:p>
            <a:pPr algn="just"/>
            <a:r>
              <a:rPr lang="pt-BR" sz="1050" b="1" dirty="0"/>
              <a:t>NR 17 – ERGONOMIA:  </a:t>
            </a:r>
            <a:r>
              <a:rPr lang="pt-BR" sz="1050" dirty="0"/>
              <a:t>Operacional e administrativa.</a:t>
            </a:r>
          </a:p>
          <a:p>
            <a:pPr algn="just"/>
            <a:r>
              <a:rPr lang="pt-BR" sz="1050" b="1" dirty="0"/>
              <a:t>PROCEDIMENTO EM SST: </a:t>
            </a:r>
            <a:r>
              <a:rPr lang="pt-PT" sz="1050" dirty="0"/>
              <a:t>Sistema Qualiex - Gestão da qualidade, documentos, indicadores, não conformidades, avaliação de fornecedores; PGI-CST-001- Gestão de segurança do trabalho; PGI-CST-002- </a:t>
            </a:r>
            <a:r>
              <a:rPr lang="pt-PT" sz="1050" dirty="0" err="1"/>
              <a:t>Checklist</a:t>
            </a:r>
            <a:r>
              <a:rPr lang="pt-PT" sz="1050" dirty="0"/>
              <a:t> diário veículos, máquinas e equipamentos; PGI-CST-003- </a:t>
            </a:r>
            <a:r>
              <a:rPr lang="pt-PT" sz="1050" dirty="0" err="1"/>
              <a:t>Etiquetamento</a:t>
            </a:r>
            <a:r>
              <a:rPr lang="pt-PT" sz="1050" dirty="0"/>
              <a:t> e Bloqueio; PGI-CST-004- Gestão de equipamento de proteção individual- EPI; PGI-CST-005- Diálogo de saúde e segurança – DSS; PGI-CST-006- Comunicação, análise e investigação de acidentes e incidentes; PGI-CST-007- Análise de riscos de segurança do trabalho; PGI-CST-010- Controle e Prevenção de Álcool e Drogas.</a:t>
            </a:r>
          </a:p>
          <a:p>
            <a:pPr algn="just"/>
            <a:endParaRPr lang="pt-BR" sz="1050" dirty="0"/>
          </a:p>
          <a:p>
            <a:pPr algn="just"/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418955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3423</TotalTime>
  <Words>568</Words>
  <Application>Microsoft Office PowerPoint</Application>
  <PresentationFormat>Papel A4 (210 x 297 mm)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Montserrat</vt:lpstr>
      <vt:lpstr>Montserrat Black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Comunicacao</dc:creator>
  <cp:lastModifiedBy>Segurança Trabalho - Sede</cp:lastModifiedBy>
  <cp:revision>30</cp:revision>
  <cp:lastPrinted>2026-08-13T12:28:08Z</cp:lastPrinted>
  <dcterms:created xsi:type="dcterms:W3CDTF">2026-01-06T17:37:05Z</dcterms:created>
  <dcterms:modified xsi:type="dcterms:W3CDTF">2026-09-18T14:31:02Z</dcterms:modified>
</cp:coreProperties>
</file>